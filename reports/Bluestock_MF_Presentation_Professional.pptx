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080000">
            <a:off x="8046720" y="100584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080000">
            <a:off x="8366760" y="141732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080000">
            <a:off x="8686800" y="182880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">
            <a:off x="9006840" y="224028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">
            <a:off x="9326880" y="265176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">
            <a:off x="9646920" y="3063240"/>
            <a:ext cx="2926080" cy="54864"/>
          </a:xfrm>
          <a:prstGeom prst="rect">
            <a:avLst/>
          </a:prstGeom>
          <a:solidFill>
            <a:srgbClr val="324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4480560"/>
            <a:ext cx="237744" cy="118872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3931920"/>
            <a:ext cx="237744" cy="173736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61120" y="3291840"/>
            <a:ext cx="237744" cy="237744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72600" y="3657600"/>
            <a:ext cx="237744" cy="201168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84080" y="2926080"/>
            <a:ext cx="237744" cy="274320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95560" y="2377440"/>
            <a:ext cx="237744" cy="329184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005840"/>
            <a:ext cx="6858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MUTUAL FUND</a:t>
            </a:r>
            <a:br/>
            <a:r>
              <a:t>ANALYTICS PLATFORM</a:t>
            </a:r>
          </a:p>
          <a:p>
            <a:pPr>
              <a:spcBef>
                <a:spcPts val="1000"/>
              </a:spcBef>
              <a:defRPr sz="1500">
                <a:solidFill>
                  <a:srgbClr val="CDDCEB"/>
                </a:solidFill>
              </a:defRPr>
            </a:pPr>
            <a:r>
              <a:t>End-to-End Data Engineering • Performance Analytics • Risk • Investor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9476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Bluestock Fintech Capstone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</a:defRPr>
            </a:pPr>
            <a:r>
              <a:t>40 mutual-fund schemes • 10 datasets</a:t>
            </a:r>
          </a:p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</a:defRPr>
            </a:pPr>
            <a:r>
              <a:t>Prepared by: Nisarga 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Bluestock Fintech | Mutual Fund Analytics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01 |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Problem, Business Need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4864" cy="123444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53312"/>
            <a:ext cx="3246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DATA FRAGMENTATION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0552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NAV, AUM, SIP and holdings arrive in different formats and locations.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54864" cy="123444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53312"/>
            <a:ext cx="3246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PERFORMANCE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130552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Raw NAV does not provide risk-adjusted comparison across funds.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234440"/>
            <a:ext cx="54864" cy="123444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353312"/>
            <a:ext cx="3246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BENCHMARK BLIND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130552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Investors need benchmark-relative performance and tracking error.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6974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697480"/>
            <a:ext cx="54864" cy="123444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816352"/>
            <a:ext cx="3246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INVESTOR BLIND SPOT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3593592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Demographic, geographic and SIP behaviours need structured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697480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697480"/>
            <a:ext cx="54864" cy="123444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816352"/>
            <a:ext cx="32461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SLOW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7992" y="3593592"/>
            <a:ext cx="3246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Static reporting needs a refreshable self-service BI layer.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2697480"/>
            <a:ext cx="2926080" cy="274320"/>
          </a:xfrm>
          <a:prstGeom prst="roundRect">
            <a:avLst/>
          </a:prstGeom>
          <a:solidFill>
            <a:srgbClr val="E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2729484"/>
            <a:ext cx="277977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382D2"/>
                </a:solidFill>
              </a:defRPr>
            </a:pPr>
            <a:r>
              <a:t>OBJECTIVE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127248"/>
            <a:ext cx="3337560" cy="2651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F2A37"/>
                </a:solidFill>
              </a:defRPr>
            </a:pPr>
            <a:r>
              <a:t>• Build a reproducible ETL pipeline</a:t>
            </a:r>
          </a:p>
          <a:p>
            <a:pPr>
              <a:spcAft>
                <a:spcPts val="400"/>
              </a:spcAft>
              <a:defRPr sz="1300">
                <a:solidFill>
                  <a:srgbClr val="1F2A37"/>
                </a:solidFill>
              </a:defRPr>
            </a:pPr>
            <a:r>
              <a:t>• Design a normalized SQLite data layer</a:t>
            </a:r>
          </a:p>
          <a:p>
            <a:pPr>
              <a:spcAft>
                <a:spcPts val="400"/>
              </a:spcAft>
              <a:defRPr sz="1300">
                <a:solidFill>
                  <a:srgbClr val="1F2A37"/>
                </a:solidFill>
              </a:defRPr>
            </a:pPr>
            <a:r>
              <a:t>• Perform deep EDA and quantify risk-adjusted performance</a:t>
            </a:r>
          </a:p>
          <a:p>
            <a:pPr>
              <a:spcAft>
                <a:spcPts val="400"/>
              </a:spcAft>
              <a:defRPr sz="1300">
                <a:solidFill>
                  <a:srgbClr val="1F2A37"/>
                </a:solidFill>
              </a:defRPr>
            </a:pPr>
            <a:r>
              <a:t>• Analyse investor behaviour and portfolio concentration</a:t>
            </a:r>
          </a:p>
          <a:p>
            <a:pPr>
              <a:spcAft>
                <a:spcPts val="400"/>
              </a:spcAft>
              <a:defRPr sz="1300">
                <a:solidFill>
                  <a:srgbClr val="1F2A37"/>
                </a:solidFill>
              </a:defRPr>
            </a:pPr>
            <a:r>
              <a:t>• Present insights through an interactive Power BI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02 |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Data Sources &amp; Dataset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54864" cy="105156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5331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SCHEMES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459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30552"/>
            <a:ext cx="2286000" cy="109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Fund master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54864" cy="105156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135331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NAV ROWS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6459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46,000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130552"/>
            <a:ext cx="2286000" cy="109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Daily NAV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23444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234440"/>
            <a:ext cx="54864" cy="105156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35331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TRANSACTIONS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16459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32,778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2130552"/>
            <a:ext cx="2286000" cy="109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Synthetic investor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234440"/>
            <a:ext cx="2560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60" y="1234440"/>
            <a:ext cx="54864" cy="105156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2" y="135331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BENCHMARK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64592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8,050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2" y="2130552"/>
            <a:ext cx="2286000" cy="109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Daily index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2651760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67919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64261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Fund Master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2862072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Scheme, AMC, category, benchmark, expense ratio, risk grade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651760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679191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64261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NAV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862072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Daily NAV from Jan-2022 to May-2026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3310128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33756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30098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AUM by Fund House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520440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Quarterly AMC AUM across 10 fund houses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310128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337560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30098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Monthly SIP Inflows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3520440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SIP flows, active accounts, new registrations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3968496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9959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39593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Category Inflows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4178808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Net flows by category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3968496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3995928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9593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Industry Folios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178808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Total folios and category breakdown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4360" y="4626864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654296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4617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Scheme Performance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4837176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Return, Sharpe, Sortino, Alpha, Beta, drawdown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626864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4654296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617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Investor Transactions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837176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SIP, lumpsum, redemption + demographics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5285231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312664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5276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Portfolio Holdings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5495544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Stock, sector and weight 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5285231"/>
            <a:ext cx="411480" cy="329184"/>
          </a:xfrm>
          <a:prstGeom prst="round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312664"/>
            <a:ext cx="320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527608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F233A"/>
                </a:solidFill>
              </a:defRPr>
            </a:pPr>
            <a:r>
              <a:t>Benchmark Indices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495544"/>
            <a:ext cx="4846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637382"/>
                </a:solidFill>
              </a:defRPr>
            </a:pPr>
            <a:r>
              <a:t>NIFTY 50/100, Midcap, BSE, CRISIL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03 |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System Architecture &amp; ETL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1874519" cy="73152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1671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A"/>
                </a:solidFill>
              </a:defRPr>
            </a:pPr>
            <a: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F2A37"/>
                </a:solidFill>
              </a:defRPr>
            </a:pPr>
            <a:r>
              <a:t>AMFI • mfapi.in • NSE/BSE • supplied CSVs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96312" y="2743200"/>
            <a:ext cx="292608" cy="38404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1920240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920240"/>
            <a:ext cx="1874519" cy="73152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1671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A"/>
                </a:solidFill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65176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F2A37"/>
                </a:solidFill>
              </a:defRPr>
            </a:pPr>
            <a:r>
              <a:t>Pandas • validation • joins • daily returns • cleaning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4782312" y="2743200"/>
            <a:ext cx="292608" cy="38404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1920240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1920240"/>
            <a:ext cx="1874519" cy="73152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1671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A"/>
                </a:solidFill>
              </a:defRPr>
            </a:pPr>
            <a:r>
              <a:t>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65176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F2A37"/>
                </a:solidFill>
              </a:defRPr>
            </a:pPr>
            <a:r>
              <a:t>SQLite • star schema • indexed facts/dimensions</a:t>
            </a:r>
          </a:p>
        </p:txBody>
      </p:sp>
      <p:sp>
        <p:nvSpPr>
          <p:cNvPr id="21" name="Chevron 20"/>
          <p:cNvSpPr/>
          <p:nvPr/>
        </p:nvSpPr>
        <p:spPr>
          <a:xfrm>
            <a:off x="7068312" y="2743200"/>
            <a:ext cx="292608" cy="38404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60" y="1920240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920240"/>
            <a:ext cx="1874519" cy="73152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1671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A"/>
                </a:solidFill>
              </a:defRPr>
            </a:pPr>
            <a: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65176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F2A37"/>
                </a:solidFill>
              </a:defRPr>
            </a:pPr>
            <a:r>
              <a:t>EDA • performance • risk • cohorts • HHI</a:t>
            </a:r>
          </a:p>
        </p:txBody>
      </p:sp>
      <p:sp>
        <p:nvSpPr>
          <p:cNvPr id="26" name="Chevron 25"/>
          <p:cNvSpPr/>
          <p:nvPr/>
        </p:nvSpPr>
        <p:spPr>
          <a:xfrm>
            <a:off x="9354312" y="2743200"/>
            <a:ext cx="292608" cy="384048"/>
          </a:xfrm>
          <a:prstGeom prst="chevron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38360" y="1920240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38360" y="1920240"/>
            <a:ext cx="1874519" cy="73152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8088" y="21671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233A"/>
                </a:solidFill>
              </a:defRPr>
            </a:pPr>
            <a:r>
              <a:t>VISUALISE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651760"/>
            <a:ext cx="1600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1F2A37"/>
                </a:solidFill>
              </a:defRPr>
            </a:pPr>
            <a:r>
              <a:t>Power BI • KPIs • slicers • drill-through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34340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343400"/>
            <a:ext cx="54864" cy="132588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462272"/>
            <a:ext cx="5029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5-TABLE STAR 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5239512"/>
            <a:ext cx="5029200" cy="384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dim_fund • dim_date • fact_nav • fact_transactions • fact_performance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343400"/>
            <a:ext cx="5394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343400"/>
            <a:ext cx="54864" cy="132588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4462272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QUALITY &amp; REPRODUCIBILITY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5239512"/>
            <a:ext cx="5120640" cy="3840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Validate AMFI codes • handle missing NAVs • standardise types • separate raw / processed / database / reports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04 |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EDA Highlights — Market &amp; Fund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05</a:t>
            </a:r>
          </a:p>
        </p:txBody>
      </p:sp>
      <p:pic>
        <p:nvPicPr>
          <p:cNvPr id="7" name="Picture 6" descr="fig_na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23560" cy="3474720"/>
          </a:xfrm>
          <a:prstGeom prst="rect">
            <a:avLst/>
          </a:prstGeom>
        </p:spPr>
      </p:pic>
      <p:pic>
        <p:nvPicPr>
          <p:cNvPr id="8" name="Picture 7" descr="fig_aum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440680" cy="3474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892040"/>
            <a:ext cx="54864" cy="100584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010912"/>
            <a:ext cx="3108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NAV DATA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3035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46,000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788152"/>
            <a:ext cx="3108960" cy="64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40 funds • no missing / duplicate fund-date records in executed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4892040"/>
            <a:ext cx="54864" cy="100584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5010912"/>
            <a:ext cx="3108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FOLIO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53035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13.26 Cr → 26.12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5788152"/>
            <a:ext cx="3108960" cy="64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Jan-2022 to Dec-2025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89204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4892040"/>
            <a:ext cx="54864" cy="100584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1" y="5010912"/>
            <a:ext cx="31089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SIP 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1" y="5303520"/>
            <a:ext cx="3108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₹31,002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1" y="5788152"/>
            <a:ext cx="3108960" cy="64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Dec-2025 all-time high in project dataset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05 |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EDA Highlights — Flows, Returns &amp;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06</a:t>
            </a:r>
          </a:p>
        </p:txBody>
      </p:sp>
      <p:pic>
        <p:nvPicPr>
          <p:cNvPr id="7" name="Picture 6" descr="fig_sip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794760" cy="3337560"/>
          </a:xfrm>
          <a:prstGeom prst="rect">
            <a:avLst/>
          </a:prstGeom>
        </p:spPr>
      </p:pic>
      <p:pic>
        <p:nvPicPr>
          <p:cNvPr id="8" name="Picture 7" descr="fig_ret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188720"/>
            <a:ext cx="3794760" cy="3337560"/>
          </a:xfrm>
          <a:prstGeom prst="rect">
            <a:avLst/>
          </a:prstGeom>
        </p:spPr>
      </p:pic>
      <p:pic>
        <p:nvPicPr>
          <p:cNvPr id="9" name="Picture 8" descr="fig_folio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3" y="1188720"/>
            <a:ext cx="3383280" cy="3337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94360" y="4709160"/>
            <a:ext cx="1920240" cy="274320"/>
          </a:xfrm>
          <a:prstGeom prst="roundRect">
            <a:avLst/>
          </a:prstGeom>
          <a:solidFill>
            <a:srgbClr val="E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741164"/>
            <a:ext cx="177393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382D2"/>
                </a:solidFill>
              </a:defRPr>
            </a:pPr>
            <a:r>
              <a:t>KEY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A37"/>
                </a:solidFill>
              </a:defRPr>
            </a:pPr>
            <a:r>
              <a:t>• Daily returns are concentrated near zero with visible tails.</a:t>
            </a:r>
          </a:p>
          <a:p>
            <a:pPr>
              <a:spcAft>
                <a:spcPts val="300"/>
              </a:spcAft>
              <a:defRPr sz="1250">
                <a:solidFill>
                  <a:srgbClr val="1F2A37"/>
                </a:solidFill>
              </a:defRPr>
            </a:pPr>
            <a:r>
              <a:t>• SIP activity strengthens materially over the 2022–2025 period.</a:t>
            </a:r>
          </a:p>
          <a:p>
            <a:pPr>
              <a:spcAft>
                <a:spcPts val="300"/>
              </a:spcAft>
              <a:defRPr sz="1250">
                <a:solidFill>
                  <a:srgbClr val="1F2A37"/>
                </a:solidFill>
              </a:defRPr>
            </a:pPr>
            <a:r>
              <a:t>• Industry folio count approximately doubles across the analysed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06 |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Performance Analytics — How Funds Are Compared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88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54864" cy="128016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30759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TOP 3-YEAR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60020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23.39%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2"/>
            <a:ext cx="3200400" cy="338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SBI Small Cap Fund - Regular Plan -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188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188720"/>
            <a:ext cx="54864" cy="128016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30759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TOP 5-YEAR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60020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23.80%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084832"/>
            <a:ext cx="3200400" cy="338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ABSL Small Cap Fund - Regular - Growth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18872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188720"/>
            <a:ext cx="54864" cy="128016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30759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HIGHEST SHARPE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60020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7.68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084832"/>
            <a:ext cx="3200400" cy="338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ICICI Pru Liquid Fund - Regular - Growth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788920"/>
            <a:ext cx="1508760" cy="274320"/>
          </a:xfrm>
          <a:prstGeom prst="roundRect">
            <a:avLst/>
          </a:prstGeom>
          <a:solidFill>
            <a:srgbClr val="E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2820924"/>
            <a:ext cx="136245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382D2"/>
                </a:solidFill>
              </a:defRPr>
            </a:pPr>
            <a:r>
              <a:t>CORE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182112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182112"/>
            <a:ext cx="54864" cy="91440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300984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CAGR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4078224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Annualised growth over 1/3/5 years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182112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182112"/>
            <a:ext cx="54864" cy="91440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3300984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Sharpe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078224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Excess return per unit of total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182112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182112"/>
            <a:ext cx="54864" cy="91440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3300984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Sortino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078224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Excess return relative to downside risk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29768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" y="4297680"/>
            <a:ext cx="54864" cy="91440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4416552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Alpha / Beta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193792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Benchmark-adjusted return and sensitivity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29768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89120" y="4297680"/>
            <a:ext cx="54864" cy="91440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53712" y="4416552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Max Drawdown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5193792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Worst peak-to-trough decline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4297680"/>
            <a:ext cx="3429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83880" y="4297680"/>
            <a:ext cx="54864" cy="91440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4416552"/>
            <a:ext cx="3154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Tracking 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48472" y="5193792"/>
            <a:ext cx="315468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Variability of active return vs benchmark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413248"/>
            <a:ext cx="109728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94360" y="5413248"/>
            <a:ext cx="54864" cy="749808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5532120"/>
            <a:ext cx="106984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COMPOSITE FUND SCORE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5824728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233A"/>
                </a:solidFill>
              </a:defRPr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758952" y="6309360"/>
            <a:ext cx="10698480" cy="-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30% 3Y return rank + 25% Sharpe + 20% Alpha + 15% inverse expense ratio + 10% inverse max drawdown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07 | PERFORMANCE +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Advanced Risk &amp; Benchmark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08</a:t>
            </a:r>
          </a:p>
        </p:txBody>
      </p:sp>
      <p:pic>
        <p:nvPicPr>
          <p:cNvPr id="7" name="Picture 6" descr="fig_rolling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69280" cy="3520440"/>
          </a:xfrm>
          <a:prstGeom prst="rect">
            <a:avLst/>
          </a:prstGeom>
        </p:spPr>
      </p:pic>
      <p:pic>
        <p:nvPicPr>
          <p:cNvPr id="8" name="Picture 7" descr="fig_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394960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" y="493776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4937760"/>
            <a:ext cx="54864" cy="914400"/>
          </a:xfrm>
          <a:prstGeom prst="rect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505663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ROLLING 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34924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90-day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833872"/>
            <a:ext cx="32004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5 selected funds • 5,750 observations in executed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93776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937760"/>
            <a:ext cx="54864" cy="914400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505663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VaR / CVaR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534924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95% historical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5833872"/>
            <a:ext cx="32004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5th percentile + mean of losses beyond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93776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4937760"/>
            <a:ext cx="54864" cy="91440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5056632"/>
            <a:ext cx="32004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BENCHMARK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5349240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233A"/>
                </a:solidFill>
              </a:defRPr>
            </a:pPr>
            <a:r>
              <a:t>NIFTY 50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5833872"/>
            <a:ext cx="3200400" cy="-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Normalised comparison + tracking error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3B5E6"/>
                </a:solidFill>
              </a:defRPr>
            </a:pPr>
            <a:r>
              <a:t>08 |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Power BI Dashboard — Industry Overview + Fund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C8DC"/>
                </a:solidFill>
              </a:defRPr>
            </a:pPr>
            <a: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207008"/>
            <a:ext cx="5678424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8-14 173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23560" cy="4864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44768" y="1207008"/>
            <a:ext cx="5568696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8-14 173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13832" cy="48646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3C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ABECF"/>
                </a:solidFill>
              </a:defRPr>
            </a:pPr>
            <a:r>
              <a:t>Actual Power BI screenshots supplied by the project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4572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43B5E6"/>
                </a:solidFill>
              </a:defRPr>
            </a:pPr>
            <a:r>
              <a:t>09 |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Power BI Dashboard — Investor Analytics + SIP &amp; Market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C8DC"/>
                </a:solidFill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207008"/>
            <a:ext cx="5678424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 2026-08-14 173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623560" cy="48646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44768" y="1207008"/>
            <a:ext cx="5568696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 2026-08-14 1734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13832" cy="486460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3C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ABECF"/>
                </a:solidFill>
              </a:defRPr>
            </a:pPr>
            <a:r>
              <a:t>Actual Power BI screenshots supplied by the project team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382D2"/>
                </a:solidFill>
              </a:defRPr>
            </a:pPr>
            <a:r>
              <a:t>10 | DECISION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233A"/>
                </a:solidFill>
              </a:defRPr>
            </a:pPr>
            <a:r>
              <a:t>Key Findings &amp; Business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320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382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143000"/>
            <a:ext cx="2194560" cy="274320"/>
          </a:xfrm>
          <a:prstGeom prst="roundRect">
            <a:avLst/>
          </a:prstGeom>
          <a:solidFill>
            <a:srgbClr val="E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175004"/>
            <a:ext cx="2048255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382D2"/>
                </a:solidFill>
              </a:defRPr>
            </a:pPr>
            <a:r>
              <a:t>WHAT THE ANALYSIS SHOWS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572768"/>
            <a:ext cx="384048" cy="384048"/>
          </a:xfrm>
          <a:prstGeom prst="ellipse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32204"/>
            <a:ext cx="292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544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33A"/>
                </a:solidFill>
              </a:defRPr>
            </a:pPr>
            <a:r>
              <a:t>Data is analysis-ready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01368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2"/>
                </a:solidFill>
              </a:defRPr>
            </a:pPr>
            <a:r>
              <a:t>46K NAV rows across 40 funds; core validation executed successfully.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464308"/>
            <a:ext cx="292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86584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33A"/>
                </a:solidFill>
              </a:defRPr>
            </a:pPr>
            <a:r>
              <a:t>Risk differs by 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33472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2"/>
                </a:solidFill>
              </a:defRPr>
            </a:pPr>
            <a:r>
              <a:t>Standard deviation, Sharpe, Sortino, drawdown and VaR provide complementary views.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236976"/>
            <a:ext cx="384048" cy="384048"/>
          </a:xfrm>
          <a:prstGeom prst="ellipse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96412"/>
            <a:ext cx="292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1868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33A"/>
                </a:solidFill>
              </a:defRPr>
            </a:pPr>
            <a:r>
              <a:t>Benchmark context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6557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2"/>
                </a:solidFill>
              </a:defRPr>
            </a:pPr>
            <a:r>
              <a:t>Fund returns are analysed against NIFTY indices using normalised paths and tracking error.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28516"/>
            <a:ext cx="292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5079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33A"/>
                </a:solidFill>
              </a:defRPr>
            </a:pPr>
            <a:r>
              <a:t>SIP participation is growing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97680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2"/>
                </a:solidFill>
              </a:defRPr>
            </a:pPr>
            <a:r>
              <a:t>Monthly SIP inflows reach ₹31,002 Cr in Dec-2025 in the project data.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901184"/>
            <a:ext cx="384048" cy="384048"/>
          </a:xfrm>
          <a:prstGeom prst="ellipse">
            <a:avLst/>
          </a:prstGeom>
          <a:solidFill>
            <a:srgbClr val="238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960620"/>
            <a:ext cx="292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82896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33A"/>
                </a:solidFill>
              </a:defRPr>
            </a:pPr>
            <a:r>
              <a:t>Continuity is a useful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29784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37382"/>
                </a:solidFill>
              </a:defRPr>
            </a:pPr>
            <a:r>
              <a:t>1,362 investors qualify for continuity analysis; 97.80% are flagged under the project rule.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143000"/>
            <a:ext cx="1737360" cy="274320"/>
          </a:xfrm>
          <a:prstGeom prst="roundRect">
            <a:avLst/>
          </a:prstGeom>
          <a:solidFill>
            <a:srgbClr val="E5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1175004"/>
            <a:ext cx="1591056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382D2"/>
                </a:solidFill>
              </a:defRPr>
            </a:pPr>
            <a:r>
              <a:t>RECOMMENDATIONS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1600200"/>
            <a:ext cx="5394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70992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82D2"/>
                </a:solidFill>
              </a:defRPr>
            </a:pPr>
            <a:r>
              <a:t>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1691640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A37"/>
                </a:solidFill>
              </a:defRPr>
            </a:pPr>
            <a:r>
              <a:t>Use risk-adjusted metrics together rather than relying on headline return.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432304"/>
            <a:ext cx="5394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542032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82D2"/>
                </a:solidFill>
              </a:defRPr>
            </a:pPr>
            <a:r>
              <a:t>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523744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A37"/>
                </a:solidFill>
              </a:defRPr>
            </a:pPr>
            <a:r>
              <a:t>Track VaR/CVaR, drawdown and rolling Sharpe for risk surveillance.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264408"/>
            <a:ext cx="5394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37413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82D2"/>
                </a:solidFill>
              </a:defRPr>
            </a:pPr>
            <a:r>
              <a:t>Segment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355848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A37"/>
                </a:solidFill>
              </a:defRPr>
            </a:pPr>
            <a:r>
              <a:t>Use cohort and SIP continuity analytics for investor engagement.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4096512"/>
            <a:ext cx="5394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20624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82D2"/>
                </a:solidFill>
              </a:defRPr>
            </a:pPr>
            <a:r>
              <a:t>Diversify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87952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A37"/>
                </a:solidFill>
              </a:defRPr>
            </a:pPr>
            <a:r>
              <a:t>Use sector HHI to identify concentrated equity exposures.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928616"/>
            <a:ext cx="5394960" cy="694944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03834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82D2"/>
                </a:solidFill>
              </a:defRPr>
            </a:pPr>
            <a:r>
              <a:t>Automate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020056"/>
            <a:ext cx="4160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F2A37"/>
                </a:solidFill>
              </a:defRPr>
            </a:pPr>
            <a:r>
              <a:t>Schedule ETL and refresh the dashboard for recurring reporting.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5779008"/>
            <a:ext cx="53949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5779008"/>
            <a:ext cx="54864" cy="475488"/>
          </a:xfrm>
          <a:prstGeom prst="rect">
            <a:avLst/>
          </a:prstGeom>
          <a:solidFill>
            <a:srgbClr val="CD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5897880"/>
            <a:ext cx="51206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DISCLAIMER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6792" y="6675120"/>
            <a:ext cx="5120640" cy="-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Educational analytics project; not investment advice.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D3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37382"/>
                </a:solidFill>
              </a:defRPr>
            </a:pPr>
            <a:r>
              <a:t>Source: Bluestock capstone brief + project datasets / executed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400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800"/>
              </a:spcBef>
              <a:defRPr sz="1900">
                <a:solidFill>
                  <a:srgbClr val="C8DCEB"/>
                </a:solidFill>
              </a:defRPr>
            </a:pPr>
            <a:r>
              <a:t>Mutual Fund Analytics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3756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337560"/>
            <a:ext cx="54864" cy="1143000"/>
          </a:xfrm>
          <a:prstGeom prst="rect">
            <a:avLst/>
          </a:prstGeom>
          <a:solidFill>
            <a:srgbClr val="43B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456432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40 SCHEMES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7490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33A"/>
                </a:solidFill>
              </a:defRPr>
            </a:pPr>
            <a:r>
              <a:t>46K NAV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33672"/>
            <a:ext cx="2651760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Multi-year fund universe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33756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3337560"/>
            <a:ext cx="54864" cy="1143000"/>
          </a:xfrm>
          <a:prstGeom prst="rect">
            <a:avLst/>
          </a:prstGeom>
          <a:solidFill>
            <a:srgbClr val="EF8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3456432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RISK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37490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233A"/>
                </a:solidFill>
              </a:defRPr>
            </a:pPr>
            <a:r>
              <a:t>VaR • CVaR • 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4233672"/>
            <a:ext cx="2651760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Performance + downside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337560"/>
            <a:ext cx="2926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3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337560"/>
            <a:ext cx="54864" cy="1143000"/>
          </a:xfrm>
          <a:prstGeom prst="rect">
            <a:avLst/>
          </a:prstGeom>
          <a:solidFill>
            <a:srgbClr val="1B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3456432"/>
            <a:ext cx="26517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37382"/>
                </a:solidFill>
              </a:defRPr>
            </a:pPr>
            <a:r>
              <a:t>BI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3749039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F233A"/>
                </a:solidFill>
              </a:defRPr>
            </a:pPr>
            <a:r>
              <a:t>4 dashboard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4233672"/>
            <a:ext cx="2651760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F2A37"/>
                </a:solidFill>
              </a:defRPr>
            </a:pPr>
            <a:r>
              <a:t>Interactive Power BI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12064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Prepared by: Nisarga P</a:t>
            </a:r>
          </a:p>
          <a:p>
            <a:pPr>
              <a:defRPr sz="1100">
                <a:solidFill>
                  <a:srgbClr val="BED2E1"/>
                </a:solidFill>
              </a:defRPr>
            </a:pPr>
            <a:r>
              <a:t>Bluestock Fintech Capstone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5664"/>
            <a:ext cx="11247120" cy="13716"/>
          </a:xfrm>
          <a:prstGeom prst="rect">
            <a:avLst/>
          </a:prstGeom>
          <a:solidFill>
            <a:srgbClr val="3C5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01384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AABECF"/>
                </a:solidFill>
              </a:defRPr>
            </a:pPr>
            <a:r>
              <a:t>Thank you | Bluestock Fintech Mutual Fund Analytics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